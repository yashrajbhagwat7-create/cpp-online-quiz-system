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56074A-055D-4AD4-B67C-EC6746AC2B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494F588-145C-44BD-BD7B-613A9819B6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431610-E8BB-49B8-A012-DD2AA62D52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7BD328-55E6-46BB-9FF4-6170A007129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F635821-AB08-4026-A7F8-89A2F302BF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8A52E1-D67F-48E8-B673-B7CB5D8E95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48E269-2694-4D43-BAE3-385563F8675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AB76EB-AAA9-4A35-8212-54A8FE78591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52E558-7519-4AA6-A9F7-13D385FBD7C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5955B6-836C-4166-BD66-1F1B745DB9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D69595-CB9A-48AD-9216-1D71D0D0F0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1188720"/>
            <a:ext cx="10332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0EA5E9"/>
                </a:solidFill>
                <a:effectLst/>
                <a:uFillTx/>
                <a:latin typeface="Segoe UI"/>
              </a:rPr>
              <a:t>OBJECT-ORIENTED PROGRAMMING (C++) LAB MINI PROJECT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4400" y="1645920"/>
            <a:ext cx="1033236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Online Examination &amp; Quiz System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A File-Driven Console Assessment Engine Built with Modern C++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5"/>
          <p:cNvSpPr/>
          <p:nvPr/>
        </p:nvSpPr>
        <p:spPr>
          <a:xfrm>
            <a:off x="914400" y="3474720"/>
            <a:ext cx="3291480" cy="959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914400" y="3474720"/>
            <a:ext cx="32914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tIns="164520" r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Core OOP Principles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Abstraction, Inheritance, Polymorphism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7"/>
          <p:cNvSpPr/>
          <p:nvPr/>
        </p:nvSpPr>
        <p:spPr>
          <a:xfrm>
            <a:off x="4434840" y="3474720"/>
            <a:ext cx="3291480" cy="959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8"/>
          <p:cNvSpPr/>
          <p:nvPr/>
        </p:nvSpPr>
        <p:spPr>
          <a:xfrm>
            <a:off x="4434840" y="3474720"/>
            <a:ext cx="32914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tIns="164520" r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Dynamic File I/O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questions.txt &amp; results.txt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9"/>
          <p:cNvSpPr/>
          <p:nvPr/>
        </p:nvSpPr>
        <p:spPr>
          <a:xfrm>
            <a:off x="7955280" y="3474720"/>
            <a:ext cx="3291480" cy="9597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10"/>
          <p:cNvSpPr/>
          <p:nvPr/>
        </p:nvSpPr>
        <p:spPr>
          <a:xfrm>
            <a:off x="7955280" y="3474720"/>
            <a:ext cx="32914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82880" tIns="164520" rIns="18288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Single-File Clean Build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0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Easy lab compilation &amp; viva review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Rectangle 11"/>
          <p:cNvSpPr/>
          <p:nvPr/>
        </p:nvSpPr>
        <p:spPr>
          <a:xfrm>
            <a:off x="914400" y="4754880"/>
            <a:ext cx="10359720" cy="1279800"/>
          </a:xfrm>
          <a:prstGeom prst="rect">
            <a:avLst/>
          </a:prstGeom>
          <a:solidFill>
            <a:srgbClr val="1E293B"/>
          </a:solidFill>
          <a:ln w="1905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12"/>
          <p:cNvSpPr/>
          <p:nvPr/>
        </p:nvSpPr>
        <p:spPr>
          <a:xfrm>
            <a:off x="1097280" y="4892040"/>
            <a:ext cx="4191480" cy="53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A5E9"/>
                </a:solidFill>
                <a:effectLst/>
                <a:uFillTx/>
                <a:latin typeface="Segoe UI"/>
              </a:rPr>
              <a:t>ACADEMIC LAB SUBMISSION DETAILS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Course / Subject : Object-Oriented Programming with C++ (C++17)</a:t>
            </a:r>
            <a:br>
              <a:rPr sz="1100"/>
            </a:b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Department       : Computer Engineering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3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14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1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01 | INTRODUCTION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731520" y="65844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Project Overview &amp; Aim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Automating examination conduct and evaluation using Object-Oriented C++.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731520" y="1645920"/>
            <a:ext cx="10725480" cy="1051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914400" y="1737360"/>
            <a:ext cx="103597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AIM OF THE PROJECT: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To design and implement a console-based Online Examination System in C++ that loads questions dynamically from an external file, conducts an interactive quiz session, evaluates candidate answers in real time, generates an instant scorecard, and persists results to an audit file.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6"/>
          <p:cNvSpPr/>
          <p:nvPr/>
        </p:nvSpPr>
        <p:spPr>
          <a:xfrm>
            <a:off x="731520" y="2880360"/>
            <a:ext cx="5230080" cy="338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Rectangle 7"/>
          <p:cNvSpPr/>
          <p:nvPr/>
        </p:nvSpPr>
        <p:spPr>
          <a:xfrm>
            <a:off x="731520" y="2880360"/>
            <a:ext cx="5230080" cy="543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914400" y="3063240"/>
            <a:ext cx="486432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Why Automated Quiz System?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Manual Grading Issues: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Paper quizzes take time to evaluate and are prone to human calculation mistakes.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Hardcoded Questions: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Simple procedural programs hardcode questions inside the code, requiring recompilation for changes.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Instant Feedback: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Students learn immediately by knowing if their answer was right or wrong with points earned.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Permanent Records: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Results must be logged with timestamps so instructors can review past candidate scores.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ectangle 9"/>
          <p:cNvSpPr/>
          <p:nvPr/>
        </p:nvSpPr>
        <p:spPr>
          <a:xfrm>
            <a:off x="6226920" y="2880360"/>
            <a:ext cx="5230080" cy="338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6226920" y="2880360"/>
            <a:ext cx="5230080" cy="54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6409800" y="3063240"/>
            <a:ext cx="4864320" cy="30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What This Project Demonstrates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OOP In Practice: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Real-world usage of Classes, Objects, Inheritance, and Dynamic Polymorphism.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File Handling: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Seamless reading from questions.txt and appending candidate scores to results.txt.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Multiple Question Paradigms: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Handles Multiple Choice, True/False, and Fill in the Blanks under one base class.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Safe Memory Lifecycle: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Zero memory leaks using clean virtual destructors and cleanup routines.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2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02 | SPECIFICATIONS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"/>
          <p:cNvSpPr/>
          <p:nvPr/>
        </p:nvSpPr>
        <p:spPr>
          <a:xfrm>
            <a:off x="731520" y="65844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Hardware &amp; Software Requirements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Standard environment specifications required to compile and execute the project.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4"/>
          <p:cNvSpPr/>
          <p:nvPr/>
        </p:nvSpPr>
        <p:spPr>
          <a:xfrm>
            <a:off x="731520" y="1645920"/>
            <a:ext cx="5284800" cy="384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5"/>
          <p:cNvSpPr/>
          <p:nvPr/>
        </p:nvSpPr>
        <p:spPr>
          <a:xfrm>
            <a:off x="731520" y="1645920"/>
            <a:ext cx="528480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6"/>
          <p:cNvSpPr/>
          <p:nvPr/>
        </p:nvSpPr>
        <p:spPr>
          <a:xfrm>
            <a:off x="960120" y="1828800"/>
            <a:ext cx="482760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SOFTWARE REQUIREMENTS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Operating System: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Windows 10 / 11 or Linux (Ubuntu, Fedora, Mint)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Programming Language: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C++ (Standard C++17)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Compiler: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GNU Compiler Collection (g++ v11+ / MinGW-w64) or Clang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Text Editor / IDE: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Visual Studio Code, Code::Blocks, Dev-C++, or Terminal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Dependencies: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None (100% pure standard C++ library)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7"/>
          <p:cNvSpPr/>
          <p:nvPr/>
        </p:nvSpPr>
        <p:spPr>
          <a:xfrm>
            <a:off x="6172200" y="1645920"/>
            <a:ext cx="5284800" cy="384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ectangle 8"/>
          <p:cNvSpPr/>
          <p:nvPr/>
        </p:nvSpPr>
        <p:spPr>
          <a:xfrm>
            <a:off x="6172200" y="1645920"/>
            <a:ext cx="5284800" cy="727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9"/>
          <p:cNvSpPr/>
          <p:nvPr/>
        </p:nvSpPr>
        <p:spPr>
          <a:xfrm>
            <a:off x="6400800" y="1828800"/>
            <a:ext cx="4827600" cy="352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HARDWARE REQUIREMENTS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Processor: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Intel / AMD Dual Core 1.5 GHz or higher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Random Access Memory (RAM):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512 MB minimum (1 GB recommended)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Hard Disk Space: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Less than 2 MB (Source + compiled binary)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Input Device: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Standard Keyboard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Output Device: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Console Monitor / Command Prompt Display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0"/>
          <p:cNvSpPr/>
          <p:nvPr/>
        </p:nvSpPr>
        <p:spPr>
          <a:xfrm>
            <a:off x="731520" y="5623560"/>
            <a:ext cx="10725480" cy="63972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11"/>
          <p:cNvSpPr/>
          <p:nvPr/>
        </p:nvSpPr>
        <p:spPr>
          <a:xfrm>
            <a:off x="914400" y="568764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38BDF8"/>
                </a:solidFill>
                <a:effectLst/>
                <a:uFillTx/>
                <a:latin typeface="Consolas"/>
              </a:rPr>
              <a:t>Compilation Command:  g++ -std=c++17 quiz_system.cpp -o quiz_system.exe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2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3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3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03 | FUNCTIONALITY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731520" y="65844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Key Features &amp; Capabilities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Core functional highlights built into the online examination console engine.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4"/>
          <p:cNvSpPr/>
          <p:nvPr/>
        </p:nvSpPr>
        <p:spPr>
          <a:xfrm>
            <a:off x="731520" y="1645920"/>
            <a:ext cx="523008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Rectangle 5"/>
          <p:cNvSpPr/>
          <p:nvPr/>
        </p:nvSpPr>
        <p:spPr>
          <a:xfrm>
            <a:off x="731520" y="1645920"/>
            <a:ext cx="91080" cy="13255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960120" y="1783080"/>
            <a:ext cx="4864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1. Multiple Question Paradigms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Supports Multiple Choice (4 choices), True/False, and Fill-in-the-Blank questions within a single test session.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7"/>
          <p:cNvSpPr/>
          <p:nvPr/>
        </p:nvSpPr>
        <p:spPr>
          <a:xfrm>
            <a:off x="6226920" y="1645920"/>
            <a:ext cx="523008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8"/>
          <p:cNvSpPr/>
          <p:nvPr/>
        </p:nvSpPr>
        <p:spPr>
          <a:xfrm>
            <a:off x="6226920" y="1645920"/>
            <a:ext cx="91080" cy="13255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9"/>
          <p:cNvSpPr/>
          <p:nvPr/>
        </p:nvSpPr>
        <p:spPr>
          <a:xfrm>
            <a:off x="6455520" y="1783080"/>
            <a:ext cx="4864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2. Real-Time Feedback &amp; Scoring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Validates candidate answers immediately, awards specific points, and reveals correct answers on mistakes.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0"/>
          <p:cNvSpPr/>
          <p:nvPr/>
        </p:nvSpPr>
        <p:spPr>
          <a:xfrm>
            <a:off x="731520" y="3154680"/>
            <a:ext cx="523008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11"/>
          <p:cNvSpPr/>
          <p:nvPr/>
        </p:nvSpPr>
        <p:spPr>
          <a:xfrm>
            <a:off x="731520" y="3154680"/>
            <a:ext cx="91080" cy="132552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12"/>
          <p:cNvSpPr/>
          <p:nvPr/>
        </p:nvSpPr>
        <p:spPr>
          <a:xfrm>
            <a:off x="960120" y="3291840"/>
            <a:ext cx="4864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3. Formatted Scorecard &amp; Grades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Generates clean ASCII scorecard displaying Roll No, Name, Score, Percentage, and Performance Grade (A+ to F).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3"/>
          <p:cNvSpPr/>
          <p:nvPr/>
        </p:nvSpPr>
        <p:spPr>
          <a:xfrm>
            <a:off x="6226920" y="3154680"/>
            <a:ext cx="523008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14"/>
          <p:cNvSpPr/>
          <p:nvPr/>
        </p:nvSpPr>
        <p:spPr>
          <a:xfrm>
            <a:off x="6226920" y="3154680"/>
            <a:ext cx="91080" cy="132552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5"/>
          <p:cNvSpPr/>
          <p:nvPr/>
        </p:nvSpPr>
        <p:spPr>
          <a:xfrm>
            <a:off x="6455520" y="3291840"/>
            <a:ext cx="4864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4. File-Driven Persistence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Reads question bank from questions.txt and automatically appends candidate score logs with timestamps to results.txt.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16"/>
          <p:cNvSpPr/>
          <p:nvPr/>
        </p:nvSpPr>
        <p:spPr>
          <a:xfrm>
            <a:off x="731520" y="4663440"/>
            <a:ext cx="523008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17"/>
          <p:cNvSpPr/>
          <p:nvPr/>
        </p:nvSpPr>
        <p:spPr>
          <a:xfrm>
            <a:off x="731520" y="4663440"/>
            <a:ext cx="91080" cy="13255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8"/>
          <p:cNvSpPr/>
          <p:nvPr/>
        </p:nvSpPr>
        <p:spPr>
          <a:xfrm>
            <a:off x="960120" y="4800600"/>
            <a:ext cx="4864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5. Admin Question Authoring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Instructors can interactively add new questions (MCQ, TF, FIB) directly through the console menu without touching code.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19"/>
          <p:cNvSpPr/>
          <p:nvPr/>
        </p:nvSpPr>
        <p:spPr>
          <a:xfrm>
            <a:off x="6226920" y="4663440"/>
            <a:ext cx="5230080" cy="132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Rectangle 20"/>
          <p:cNvSpPr/>
          <p:nvPr/>
        </p:nvSpPr>
        <p:spPr>
          <a:xfrm>
            <a:off x="6226920" y="4663440"/>
            <a:ext cx="91080" cy="13255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TextBox 21"/>
          <p:cNvSpPr/>
          <p:nvPr/>
        </p:nvSpPr>
        <p:spPr>
          <a:xfrm>
            <a:off x="6455520" y="4800600"/>
            <a:ext cx="486432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6. Built-In Fault Tolerance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Self-heals missing files by generating a default question bank, and handles bad user inputs gracefully.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2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3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4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04 | OOP CONCEPTS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3"/>
          <p:cNvSpPr/>
          <p:nvPr/>
        </p:nvSpPr>
        <p:spPr>
          <a:xfrm>
            <a:off x="731520" y="65844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Core Object-Oriented Principles Used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Concrete mapping of textbook OOP concepts to the project's source code.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4"/>
          <p:cNvSpPr/>
          <p:nvPr/>
        </p:nvSpPr>
        <p:spPr>
          <a:xfrm>
            <a:off x="731520" y="1645920"/>
            <a:ext cx="523008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Rectangle 5"/>
          <p:cNvSpPr/>
          <p:nvPr/>
        </p:nvSpPr>
        <p:spPr>
          <a:xfrm>
            <a:off x="731520" y="1645920"/>
            <a:ext cx="5230080" cy="54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6"/>
          <p:cNvSpPr/>
          <p:nvPr/>
        </p:nvSpPr>
        <p:spPr>
          <a:xfrm>
            <a:off x="914400" y="1755720"/>
            <a:ext cx="4864320" cy="19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DATA ABSTRACTION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Concept: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Hiding internal implementation details and showing only essential features.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In Our Code: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Abstract base class Question defines pure virtual functions: display() = 0 and checkAnswer() = 0.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7"/>
          <p:cNvSpPr/>
          <p:nvPr/>
        </p:nvSpPr>
        <p:spPr>
          <a:xfrm>
            <a:off x="6226920" y="1645920"/>
            <a:ext cx="523008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Rectangle 8"/>
          <p:cNvSpPr/>
          <p:nvPr/>
        </p:nvSpPr>
        <p:spPr>
          <a:xfrm>
            <a:off x="6226920" y="1645920"/>
            <a:ext cx="5230080" cy="54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9"/>
          <p:cNvSpPr/>
          <p:nvPr/>
        </p:nvSpPr>
        <p:spPr>
          <a:xfrm>
            <a:off x="6409800" y="1755720"/>
            <a:ext cx="4864320" cy="19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DATA ENCAPSULATION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Concept: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Binding data members and member functions together while restricting direct access.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In Our Code: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Sensitive fields (score, rollNo, correctOption) are private/protected; accessed only via getters.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10"/>
          <p:cNvSpPr/>
          <p:nvPr/>
        </p:nvSpPr>
        <p:spPr>
          <a:xfrm>
            <a:off x="731520" y="3977640"/>
            <a:ext cx="523008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Rectangle 11"/>
          <p:cNvSpPr/>
          <p:nvPr/>
        </p:nvSpPr>
        <p:spPr>
          <a:xfrm>
            <a:off x="731520" y="3977640"/>
            <a:ext cx="5230080" cy="543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12"/>
          <p:cNvSpPr/>
          <p:nvPr/>
        </p:nvSpPr>
        <p:spPr>
          <a:xfrm>
            <a:off x="914400" y="4087440"/>
            <a:ext cx="4864320" cy="19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7C3AED"/>
                </a:solidFill>
                <a:effectLst/>
                <a:uFillTx/>
                <a:latin typeface="Segoe UI"/>
              </a:rPr>
              <a:t>HIERARCHICAL INHERITANCE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1" u="none" strike="noStrike">
                <a:solidFill>
                  <a:srgbClr val="7C3AED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Concept: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Deriving multiple specialized classes from a single common base class.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1" u="none" strike="noStrike">
                <a:solidFill>
                  <a:srgbClr val="7C3AED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In Our Code: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MCQQuestion, TrueFalseQuestion, and FillInBlankQuestion all inherit publicly from Question.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Rectangle 13"/>
          <p:cNvSpPr/>
          <p:nvPr/>
        </p:nvSpPr>
        <p:spPr>
          <a:xfrm>
            <a:off x="6226920" y="3977640"/>
            <a:ext cx="523008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14"/>
          <p:cNvSpPr/>
          <p:nvPr/>
        </p:nvSpPr>
        <p:spPr>
          <a:xfrm>
            <a:off x="6226920" y="3977640"/>
            <a:ext cx="5230080" cy="543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6409800" y="4087440"/>
            <a:ext cx="4864320" cy="19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Segoe UI"/>
              </a:rPr>
              <a:t>DYNAMIC POLYMORPHISM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1" u="none" strike="noStrike">
                <a:solidFill>
                  <a:srgbClr val="D97706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Concept: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Resolving function calls at runtime based on the actual object type using virtual tables.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00"/>
              </a:spcBef>
            </a:pPr>
            <a:r>
              <a:rPr lang="en-US" sz="1150" b="1" u="none" strike="noStrike">
                <a:solidFill>
                  <a:srgbClr val="D97706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In Our Code: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QuizManager stores vector&lt;Question*&gt;; calls to q-&gt;display() invoke exact derived logic.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16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7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5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2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05 | CLASS DESIGN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731520" y="65844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UML Class Architecture &amp; Hierarchy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Structural layout of classes, inheritance relationships, and manager components.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ectangle 4"/>
          <p:cNvSpPr/>
          <p:nvPr/>
        </p:nvSpPr>
        <p:spPr>
          <a:xfrm>
            <a:off x="3620880" y="1645920"/>
            <a:ext cx="4937400" cy="187416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5"/>
          <p:cNvSpPr/>
          <p:nvPr/>
        </p:nvSpPr>
        <p:spPr>
          <a:xfrm>
            <a:off x="3620880" y="1645920"/>
            <a:ext cx="4937400" cy="3196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6"/>
          <p:cNvSpPr/>
          <p:nvPr/>
        </p:nvSpPr>
        <p:spPr>
          <a:xfrm>
            <a:off x="3620880" y="164592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&lt;&lt;abstract&gt;&gt; Question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7"/>
          <p:cNvSpPr/>
          <p:nvPr/>
        </p:nvSpPr>
        <p:spPr>
          <a:xfrm>
            <a:off x="3758040" y="1993320"/>
            <a:ext cx="46630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# id: int  |  # questionText: string  |  # points: int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900" b="0" u="none" strike="noStrike">
                <a:solidFill>
                  <a:srgbClr val="2563EB"/>
                </a:solidFill>
                <a:effectLst/>
                <a:uFillTx/>
                <a:latin typeface="Consolas"/>
              </a:rPr>
              <a:t>+ virtual void display() const = 0;</a:t>
            </a:r>
            <a:br>
              <a:rPr sz="900"/>
            </a:br>
            <a:r>
              <a:rPr lang="en-US" sz="900" b="0" u="none" strike="noStrike">
                <a:solidFill>
                  <a:srgbClr val="2563EB"/>
                </a:solidFill>
                <a:effectLst/>
                <a:uFillTx/>
                <a:latin typeface="Consolas"/>
              </a:rPr>
              <a:t>+ virtual bool checkAnswer(string userAns) const = 0;</a:t>
            </a:r>
            <a:br>
              <a:rPr sz="900"/>
            </a:br>
            <a:r>
              <a:rPr lang="en-US" sz="900" b="0" u="none" strike="noStrike">
                <a:solidFill>
                  <a:srgbClr val="2563EB"/>
                </a:solidFill>
                <a:effectLst/>
                <a:uFillTx/>
                <a:latin typeface="Consolas"/>
              </a:rPr>
              <a:t>+ virtual string getType() const = 0;</a:t>
            </a:r>
            <a:br>
              <a:rPr sz="900"/>
            </a:br>
            <a:r>
              <a:rPr lang="en-US" sz="900" b="0" u="none" strike="noStrike">
                <a:solidFill>
                  <a:srgbClr val="2563EB"/>
                </a:solidFill>
                <a:effectLst/>
                <a:uFillTx/>
                <a:latin typeface="Consolas"/>
              </a:rPr>
              <a:t>+ virtual ~Question() {} // Virtual Destructor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ectangle 8"/>
          <p:cNvSpPr/>
          <p:nvPr/>
        </p:nvSpPr>
        <p:spPr>
          <a:xfrm>
            <a:off x="731520" y="3794760"/>
            <a:ext cx="3364560" cy="1691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9"/>
          <p:cNvSpPr/>
          <p:nvPr/>
        </p:nvSpPr>
        <p:spPr>
          <a:xfrm>
            <a:off x="731520" y="3794760"/>
            <a:ext cx="3364560" cy="2923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0"/>
          <p:cNvSpPr/>
          <p:nvPr/>
        </p:nvSpPr>
        <p:spPr>
          <a:xfrm>
            <a:off x="731520" y="3794760"/>
            <a:ext cx="3364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MCQQuestion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1"/>
          <p:cNvSpPr/>
          <p:nvPr/>
        </p:nvSpPr>
        <p:spPr>
          <a:xfrm>
            <a:off x="841320" y="4123800"/>
            <a:ext cx="31453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- options: vector&lt;string&gt;</a:t>
            </a:r>
            <a:br>
              <a:rPr sz="900"/>
            </a:b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- correctOption: char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850" b="0" u="none" strike="noStrike">
                <a:solidFill>
                  <a:srgbClr val="2563EB"/>
                </a:solidFill>
                <a:effectLst/>
                <a:uFillTx/>
                <a:latin typeface="Consolas"/>
              </a:rPr>
              <a:t>+ display() override</a:t>
            </a:r>
            <a:br>
              <a:rPr sz="850"/>
            </a:br>
            <a:r>
              <a:rPr lang="en-US" sz="850" b="0" u="none" strike="noStrike">
                <a:solidFill>
                  <a:srgbClr val="2563EB"/>
                </a:solidFill>
                <a:effectLst/>
                <a:uFillTx/>
                <a:latin typeface="Consolas"/>
              </a:rPr>
              <a:t>+ checkAnswer() override</a:t>
            </a:r>
            <a:br>
              <a:rPr sz="850"/>
            </a:br>
            <a:r>
              <a:rPr lang="en-US" sz="850" b="0" u="none" strike="noStrike">
                <a:solidFill>
                  <a:srgbClr val="2563EB"/>
                </a:solidFill>
                <a:effectLst/>
                <a:uFillTx/>
                <a:latin typeface="Consolas"/>
              </a:rPr>
              <a:t>+ serialize() override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12"/>
          <p:cNvSpPr/>
          <p:nvPr/>
        </p:nvSpPr>
        <p:spPr>
          <a:xfrm>
            <a:off x="4407480" y="3794760"/>
            <a:ext cx="3364560" cy="16912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13"/>
          <p:cNvSpPr/>
          <p:nvPr/>
        </p:nvSpPr>
        <p:spPr>
          <a:xfrm>
            <a:off x="4407480" y="3794760"/>
            <a:ext cx="3364560" cy="2923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14"/>
          <p:cNvSpPr/>
          <p:nvPr/>
        </p:nvSpPr>
        <p:spPr>
          <a:xfrm>
            <a:off x="4407480" y="3794760"/>
            <a:ext cx="3364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TrueFalseQuestion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15"/>
          <p:cNvSpPr/>
          <p:nvPr/>
        </p:nvSpPr>
        <p:spPr>
          <a:xfrm>
            <a:off x="4517280" y="4123800"/>
            <a:ext cx="31453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- correctAnswer: bool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85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+ display() override</a:t>
            </a:r>
            <a:br>
              <a:rPr sz="850"/>
            </a:br>
            <a:r>
              <a:rPr lang="en-US" sz="85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+ checkAnswer() override</a:t>
            </a:r>
            <a:br>
              <a:rPr sz="850"/>
            </a:br>
            <a:r>
              <a:rPr lang="en-US" sz="850" b="0" u="none" strike="noStrike">
                <a:solidFill>
                  <a:srgbClr val="10B981"/>
                </a:solidFill>
                <a:effectLst/>
                <a:uFillTx/>
                <a:latin typeface="Consolas"/>
              </a:rPr>
              <a:t>+ serialize() override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16"/>
          <p:cNvSpPr/>
          <p:nvPr/>
        </p:nvSpPr>
        <p:spPr>
          <a:xfrm>
            <a:off x="8083440" y="3794760"/>
            <a:ext cx="3364560" cy="16912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Rectangle 17"/>
          <p:cNvSpPr/>
          <p:nvPr/>
        </p:nvSpPr>
        <p:spPr>
          <a:xfrm>
            <a:off x="8083440" y="3794760"/>
            <a:ext cx="3364560" cy="29232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18"/>
          <p:cNvSpPr/>
          <p:nvPr/>
        </p:nvSpPr>
        <p:spPr>
          <a:xfrm>
            <a:off x="8083440" y="3794760"/>
            <a:ext cx="3364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FillInBlankQuestion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19"/>
          <p:cNvSpPr/>
          <p:nvPr/>
        </p:nvSpPr>
        <p:spPr>
          <a:xfrm>
            <a:off x="8192880" y="4123800"/>
            <a:ext cx="31453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- expectedAnswer: string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850" b="0" u="none" strike="noStrike">
                <a:solidFill>
                  <a:srgbClr val="7C3AED"/>
                </a:solidFill>
                <a:effectLst/>
                <a:uFillTx/>
                <a:latin typeface="Consolas"/>
              </a:rPr>
              <a:t>+ display() override</a:t>
            </a:r>
            <a:br>
              <a:rPr sz="850"/>
            </a:br>
            <a:r>
              <a:rPr lang="en-US" sz="850" b="0" u="none" strike="noStrike">
                <a:solidFill>
                  <a:srgbClr val="7C3AED"/>
                </a:solidFill>
                <a:effectLst/>
                <a:uFillTx/>
                <a:latin typeface="Consolas"/>
              </a:rPr>
              <a:t>+ checkAnswer() override</a:t>
            </a:r>
            <a:br>
              <a:rPr sz="850"/>
            </a:br>
            <a:r>
              <a:rPr lang="en-US" sz="850" b="0" u="none" strike="noStrike">
                <a:solidFill>
                  <a:srgbClr val="7C3AED"/>
                </a:solidFill>
                <a:effectLst/>
                <a:uFillTx/>
                <a:latin typeface="Consolas"/>
              </a:rPr>
              <a:t>+ serialize() override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ectangle 20"/>
          <p:cNvSpPr/>
          <p:nvPr/>
        </p:nvSpPr>
        <p:spPr>
          <a:xfrm>
            <a:off x="731520" y="5669280"/>
            <a:ext cx="1072548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TextBox 21"/>
          <p:cNvSpPr/>
          <p:nvPr/>
        </p:nvSpPr>
        <p:spPr>
          <a:xfrm>
            <a:off x="914400" y="571500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Supporting Classes: User (candidate name, roll no, score &amp; operator&lt;&lt;) | QuizManager (handles vector&lt;Question*&gt; and file I/O)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22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23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6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06 | CLASS DETAILS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731520" y="65844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Specialized Question Implementations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How derived classes customize display and validation logic.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ectangle 4"/>
          <p:cNvSpPr/>
          <p:nvPr/>
        </p:nvSpPr>
        <p:spPr>
          <a:xfrm>
            <a:off x="731520" y="1645920"/>
            <a:ext cx="3364560" cy="457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Rectangle 5"/>
          <p:cNvSpPr/>
          <p:nvPr/>
        </p:nvSpPr>
        <p:spPr>
          <a:xfrm>
            <a:off x="731520" y="1645920"/>
            <a:ext cx="336456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6"/>
          <p:cNvSpPr/>
          <p:nvPr/>
        </p:nvSpPr>
        <p:spPr>
          <a:xfrm>
            <a:off x="914400" y="1828800"/>
            <a:ext cx="2998800" cy="42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Multiple Choice (MCQ)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onsolas"/>
              </a:rPr>
              <a:t>Class: MCQQuestion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Purpose: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Presents a question statement along with 4 distinct options [A], [B], [C], [D].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Data Fields: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vector&lt;string&gt; options for choices, char correctOption for answer key.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Validation: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Takes candidate input (e.g., 'A'), converts to uppercase, and compares with correctOption.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Serialization: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Saved in questions.txt as: MCQ|Question|OptA|OptB|OptC|OptD|Ans|Points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7"/>
          <p:cNvSpPr/>
          <p:nvPr/>
        </p:nvSpPr>
        <p:spPr>
          <a:xfrm>
            <a:off x="4407480" y="1645920"/>
            <a:ext cx="3364560" cy="457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Rectangle 8"/>
          <p:cNvSpPr/>
          <p:nvPr/>
        </p:nvSpPr>
        <p:spPr>
          <a:xfrm>
            <a:off x="4407480" y="1645920"/>
            <a:ext cx="3364560" cy="727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4590360" y="1828800"/>
            <a:ext cx="2998800" cy="42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True / False (TF)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onsolas"/>
              </a:rPr>
              <a:t>Class: TrueFalseQuestion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Purpose: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Presents a factual statement for true or false verification.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Data Fields: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bool correctAnswer storing true or false.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Validation: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Flexible input check: accepts 'T', 'True', '1' as true, and 'F', 'False', '0' as false.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Serialization: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Saved in questions.txt as: TF|Question|True/False|Points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10"/>
          <p:cNvSpPr/>
          <p:nvPr/>
        </p:nvSpPr>
        <p:spPr>
          <a:xfrm>
            <a:off x="8083440" y="1645920"/>
            <a:ext cx="3364560" cy="457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Rectangle 11"/>
          <p:cNvSpPr/>
          <p:nvPr/>
        </p:nvSpPr>
        <p:spPr>
          <a:xfrm>
            <a:off x="8083440" y="1645920"/>
            <a:ext cx="3364560" cy="7272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12"/>
          <p:cNvSpPr/>
          <p:nvPr/>
        </p:nvSpPr>
        <p:spPr>
          <a:xfrm>
            <a:off x="8266320" y="1828800"/>
            <a:ext cx="2998800" cy="425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7C3AED"/>
                </a:solidFill>
                <a:effectLst/>
                <a:uFillTx/>
                <a:latin typeface="Segoe UI"/>
              </a:rPr>
              <a:t>Fill in the Blanks (FIB)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950" b="0" u="none" strike="noStrike">
                <a:solidFill>
                  <a:srgbClr val="475569"/>
                </a:solidFill>
                <a:effectLst/>
                <a:uFillTx/>
                <a:latin typeface="Consolas"/>
              </a:rPr>
              <a:t>Class: FillInBlankQuestion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7C3AED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Purpose: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Presents a statement with a missing keyword or phrase.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7C3AED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Data Fields: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string expectedAnswer storing target keyword.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7C3AED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Validation: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Trims leading/trailing whitespace and performs case-insensitive lexical comparison.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150" b="1" u="none" strike="noStrike">
                <a:solidFill>
                  <a:srgbClr val="7C3AED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Serialization: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Saved in questions.txt as: FIB|Question|ExpectedAnswer|Points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14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7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07 | POLYMORPHISM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731520" y="65844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Dynamic Polymorphism &amp; Virtual Functions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Executing derived class behavior through base class pointers at runtime.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4"/>
          <p:cNvSpPr/>
          <p:nvPr/>
        </p:nvSpPr>
        <p:spPr>
          <a:xfrm>
            <a:off x="731520" y="1645920"/>
            <a:ext cx="5230080" cy="457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ectangle 5"/>
          <p:cNvSpPr/>
          <p:nvPr/>
        </p:nvSpPr>
        <p:spPr>
          <a:xfrm>
            <a:off x="731520" y="1645920"/>
            <a:ext cx="523008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Box 6"/>
          <p:cNvSpPr/>
          <p:nvPr/>
        </p:nvSpPr>
        <p:spPr>
          <a:xfrm>
            <a:off x="960120" y="1874520"/>
            <a:ext cx="47545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How Dynamic Dispatch Works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99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Base Pointer Vector: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QuizManager stores vector&lt;Question*&gt; questions. The vector holds pointers to MCQ, True/False, and FillBlank objects together.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Virtual Table (vtable):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Because display() is marked virtual, C++ looks up the memory address of the actual derived function at runtime.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No Conditional Branching: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We don't need if(type == MCQ) or switch-case statements. A single loop executes any question type cleanly.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100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Extensibility: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If we add a new question type tomorrow (e.g. MatchQuestion), the quiz loop does not need any change!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Rectangle 7"/>
          <p:cNvSpPr/>
          <p:nvPr/>
        </p:nvSpPr>
        <p:spPr>
          <a:xfrm>
            <a:off x="6226920" y="1645920"/>
            <a:ext cx="5230080" cy="4571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Rectangle 8"/>
          <p:cNvSpPr/>
          <p:nvPr/>
        </p:nvSpPr>
        <p:spPr>
          <a:xfrm>
            <a:off x="6226920" y="1645920"/>
            <a:ext cx="5230080" cy="7272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9"/>
          <p:cNvSpPr/>
          <p:nvPr/>
        </p:nvSpPr>
        <p:spPr>
          <a:xfrm>
            <a:off x="6446520" y="1874520"/>
            <a:ext cx="47545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EA5E9"/>
                </a:solidFill>
                <a:effectLst/>
                <a:uFillTx/>
                <a:latin typeface="Segoe UI"/>
              </a:rPr>
              <a:t>Code Implementation (quiz_system.cpp)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// 1. Vector holding polymorphic base pointers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vector&lt;Question*&gt; questions;</a:t>
            </a:r>
            <a:br>
              <a:rPr sz="950"/>
            </a:b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// 2. Uniform loop executing dynamic methods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for (Question* q : questions) {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// Dynamically calls MCQ::display() or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// TrueFalse::display() via vtable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q-&gt;display();</a:t>
            </a:r>
            <a:br>
              <a:rPr sz="950"/>
            </a:b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cout &lt;&lt; " Your Answer &gt;&gt; ";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string userAns;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getline(cin, userAns);</a:t>
            </a:r>
            <a:br>
              <a:rPr sz="950"/>
            </a:b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// Dynamically evaluates derived answer logic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if (q-&gt;checkAnswer(userAns)) {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    student.addScore(q-&gt;getPoints());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 }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}</a:t>
            </a:r>
            <a:br>
              <a:rPr sz="950"/>
            </a:b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// 3. Virtual destructor ensures safe cleanup</a:t>
            </a:r>
            <a:br>
              <a:rPr sz="950"/>
            </a:br>
            <a:r>
              <a:rPr lang="en-US" sz="9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for (Question* q : questions) delete q;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0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1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8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08 | FILE I/O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3"/>
          <p:cNvSpPr/>
          <p:nvPr/>
        </p:nvSpPr>
        <p:spPr>
          <a:xfrm>
            <a:off x="731520" y="65844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File Handling &amp; Data Persistence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Reading questions from external repository and logging student results.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ectangle 4"/>
          <p:cNvSpPr/>
          <p:nvPr/>
        </p:nvSpPr>
        <p:spPr>
          <a:xfrm>
            <a:off x="731520" y="1645920"/>
            <a:ext cx="5230080" cy="457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Rectangle 5"/>
          <p:cNvSpPr/>
          <p:nvPr/>
        </p:nvSpPr>
        <p:spPr>
          <a:xfrm>
            <a:off x="731520" y="1645920"/>
            <a:ext cx="5230080" cy="7272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6"/>
          <p:cNvSpPr/>
          <p:nvPr/>
        </p:nvSpPr>
        <p:spPr>
          <a:xfrm>
            <a:off x="960120" y="1874520"/>
            <a:ext cx="47545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1. Question Bank File (questions.txt)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001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Pipe Delimited Format: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Uses '|' as delimiter so regular commas and spaces in questions don't cause errors.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Line by Line Parsing: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Uses ifstream and getline() with stringstream to extract tokens.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Auto File Creation: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If questions.txt is missing on startup, the system automatically writes a default 10-question quiz.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# Sample records in questions.txt:</a:t>
            </a:r>
            <a:br>
              <a:rPr sz="950"/>
            </a:b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MCQ|Size of empty class?|1B|0B|4B|Undef|A|2</a:t>
            </a:r>
            <a:br>
              <a:rPr sz="950"/>
            </a:b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TF|Constructor can be virtual.|False|1</a:t>
            </a:r>
            <a:br>
              <a:rPr sz="950"/>
            </a:b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FIB|Binding data &amp; methods is called _____|encapsulation|2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7"/>
          <p:cNvSpPr/>
          <p:nvPr/>
        </p:nvSpPr>
        <p:spPr>
          <a:xfrm>
            <a:off x="6226920" y="1645920"/>
            <a:ext cx="5230080" cy="457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8"/>
          <p:cNvSpPr/>
          <p:nvPr/>
        </p:nvSpPr>
        <p:spPr>
          <a:xfrm>
            <a:off x="6226920" y="1645920"/>
            <a:ext cx="5230080" cy="727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9"/>
          <p:cNvSpPr/>
          <p:nvPr/>
        </p:nvSpPr>
        <p:spPr>
          <a:xfrm>
            <a:off x="6446520" y="1874520"/>
            <a:ext cx="47545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2. Examination Score Log (results.txt)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1001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Append Mode (ios::app):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Past test scores are never overwritten; every candidate test attempt is preserved.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Date &amp; Timestamp Log: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Current system date and time is recorded for every completed exam session.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99"/>
              </a:spcBef>
            </a:pPr>
            <a:r>
              <a:rPr lang="en-US" sz="12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1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View Leaderboard Option: </a:t>
            </a:r>
            <a:r>
              <a:rPr lang="en-US" sz="110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The console menu provides Option 4 to view all past records formatted as a neat table.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# Sample records in results.txt:</a:t>
            </a:r>
            <a:br>
              <a:rPr sz="950"/>
            </a:b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CS202601|Alice Smith|15/17|88.2%|A (Excellent)|2026-10-15 10:30:00</a:t>
            </a:r>
            <a:br>
              <a:rPr sz="950"/>
            </a:b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CS202602|Bob Johnson|14/17|82.4%|A (Excellent)|2026-10-15 11:15:22</a:t>
            </a:r>
            <a:br>
              <a:rPr sz="950"/>
            </a:br>
            <a:r>
              <a:rPr lang="en-US" sz="950" b="0" u="none" strike="noStrike">
                <a:solidFill>
                  <a:srgbClr val="334155"/>
                </a:solidFill>
                <a:effectLst/>
                <a:uFillTx/>
                <a:latin typeface="Consolas"/>
              </a:rPr>
              <a:t>CS202603|Charlie Brown|10/17|58.8%|D (Pass)|2026-10-16 14:05:10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10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11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9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2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09 | WORKFLOW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3"/>
          <p:cNvSpPr/>
          <p:nvPr/>
        </p:nvSpPr>
        <p:spPr>
          <a:xfrm>
            <a:off x="731520" y="65844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Program Execution &amp; Lifecycle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Step-by-step flowchart of the quiz application from startup to completion.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4"/>
          <p:cNvSpPr/>
          <p:nvPr/>
        </p:nvSpPr>
        <p:spPr>
          <a:xfrm>
            <a:off x="731520" y="1645920"/>
            <a:ext cx="107254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Rectangle 5"/>
          <p:cNvSpPr/>
          <p:nvPr/>
        </p:nvSpPr>
        <p:spPr>
          <a:xfrm>
            <a:off x="914400" y="1783080"/>
            <a:ext cx="868320" cy="5025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6"/>
          <p:cNvSpPr/>
          <p:nvPr/>
        </p:nvSpPr>
        <p:spPr>
          <a:xfrm>
            <a:off x="914400" y="1783080"/>
            <a:ext cx="86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1098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Step 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7"/>
          <p:cNvSpPr/>
          <p:nvPr/>
        </p:nvSpPr>
        <p:spPr>
          <a:xfrm>
            <a:off x="1965960" y="175572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Program Launch &amp; File Ingestion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Program starts, verifies questions.txt, parses question records, and instantiates objects into vector&lt;Question*&gt;.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8"/>
          <p:cNvSpPr/>
          <p:nvPr/>
        </p:nvSpPr>
        <p:spPr>
          <a:xfrm>
            <a:off x="731520" y="2560320"/>
            <a:ext cx="107254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ectangle 9"/>
          <p:cNvSpPr/>
          <p:nvPr/>
        </p:nvSpPr>
        <p:spPr>
          <a:xfrm>
            <a:off x="914400" y="2697480"/>
            <a:ext cx="868320" cy="50256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10"/>
          <p:cNvSpPr/>
          <p:nvPr/>
        </p:nvSpPr>
        <p:spPr>
          <a:xfrm>
            <a:off x="914400" y="2697480"/>
            <a:ext cx="86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1098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Step 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1"/>
          <p:cNvSpPr/>
          <p:nvPr/>
        </p:nvSpPr>
        <p:spPr>
          <a:xfrm>
            <a:off x="1965960" y="267012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Student Registration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Candidate enters their Full Name and Roll Number, initializing the User object.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12"/>
          <p:cNvSpPr/>
          <p:nvPr/>
        </p:nvSpPr>
        <p:spPr>
          <a:xfrm>
            <a:off x="731520" y="3474720"/>
            <a:ext cx="107254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ectangle 13"/>
          <p:cNvSpPr/>
          <p:nvPr/>
        </p:nvSpPr>
        <p:spPr>
          <a:xfrm>
            <a:off x="914400" y="3611880"/>
            <a:ext cx="868320" cy="5025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14"/>
          <p:cNvSpPr/>
          <p:nvPr/>
        </p:nvSpPr>
        <p:spPr>
          <a:xfrm>
            <a:off x="914400" y="3611880"/>
            <a:ext cx="86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1098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Step 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15"/>
          <p:cNvSpPr/>
          <p:nvPr/>
        </p:nvSpPr>
        <p:spPr>
          <a:xfrm>
            <a:off x="1965960" y="358452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Interactive Quiz Execution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Loop runs over questions; calls q-&gt;display(), takes user input, calls q-&gt;checkAnswer(), and awards points.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16"/>
          <p:cNvSpPr/>
          <p:nvPr/>
        </p:nvSpPr>
        <p:spPr>
          <a:xfrm>
            <a:off x="731520" y="4389120"/>
            <a:ext cx="107254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ectangle 17"/>
          <p:cNvSpPr/>
          <p:nvPr/>
        </p:nvSpPr>
        <p:spPr>
          <a:xfrm>
            <a:off x="914400" y="4526280"/>
            <a:ext cx="868320" cy="5025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8"/>
          <p:cNvSpPr/>
          <p:nvPr/>
        </p:nvSpPr>
        <p:spPr>
          <a:xfrm>
            <a:off x="914400" y="4526280"/>
            <a:ext cx="86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1098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Step 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9"/>
          <p:cNvSpPr/>
          <p:nvPr/>
        </p:nvSpPr>
        <p:spPr>
          <a:xfrm>
            <a:off x="1965960" y="449892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Scorecard &amp; Grade Generation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Calculates total score, percentage, and letter grade; displays formatted ASCII scorecard via operator&lt;&lt;.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20"/>
          <p:cNvSpPr/>
          <p:nvPr/>
        </p:nvSpPr>
        <p:spPr>
          <a:xfrm>
            <a:off x="731520" y="5303520"/>
            <a:ext cx="10725480" cy="776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21"/>
          <p:cNvSpPr/>
          <p:nvPr/>
        </p:nvSpPr>
        <p:spPr>
          <a:xfrm>
            <a:off x="914400" y="5440680"/>
            <a:ext cx="868320" cy="5025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22"/>
          <p:cNvSpPr/>
          <p:nvPr/>
        </p:nvSpPr>
        <p:spPr>
          <a:xfrm>
            <a:off x="914400" y="5440680"/>
            <a:ext cx="86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1098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Step 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23"/>
          <p:cNvSpPr/>
          <p:nvPr/>
        </p:nvSpPr>
        <p:spPr>
          <a:xfrm>
            <a:off x="1965960" y="5413320"/>
            <a:ext cx="92350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Persistence &amp; Memory Deallocation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1"/>
              </a:spcBef>
            </a:pPr>
            <a:r>
              <a:rPr lang="en-US" sz="10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Appends candidate score to results.txt with timestamp; QuizManager safely deletes all dynamically allocated questions.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24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25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10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2"/>
          <p:cNvSpPr/>
          <p:nvPr/>
        </p:nvSpPr>
        <p:spPr>
          <a:xfrm>
            <a:off x="731520" y="365760"/>
            <a:ext cx="10698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10 | OUTPUT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3"/>
          <p:cNvSpPr/>
          <p:nvPr/>
        </p:nvSpPr>
        <p:spPr>
          <a:xfrm>
            <a:off x="731520" y="65844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Console Output &amp; Generated Scorecard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Terminal display during question presentation and final evaluation.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ectangle 4"/>
          <p:cNvSpPr/>
          <p:nvPr/>
        </p:nvSpPr>
        <p:spPr>
          <a:xfrm>
            <a:off x="731520" y="1645920"/>
            <a:ext cx="5230080" cy="4571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ectangle 5"/>
          <p:cNvSpPr/>
          <p:nvPr/>
        </p:nvSpPr>
        <p:spPr>
          <a:xfrm>
            <a:off x="731520" y="1645920"/>
            <a:ext cx="5230080" cy="72720"/>
          </a:xfrm>
          <a:prstGeom prst="rect">
            <a:avLst/>
          </a:prstGeom>
          <a:solidFill>
            <a:srgbClr val="0EA5E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6"/>
          <p:cNvSpPr/>
          <p:nvPr/>
        </p:nvSpPr>
        <p:spPr>
          <a:xfrm>
            <a:off x="960120" y="1874520"/>
            <a:ext cx="47545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EA5E9"/>
                </a:solidFill>
                <a:effectLst/>
                <a:uFillTx/>
                <a:latin typeface="Segoe UI"/>
              </a:rPr>
              <a:t>Sample Question Presentation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============================================================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[Question 1] (Multiple Choice | 2 Points)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------------------------------------------------------------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What is the typical size of an empty class object in C++?</a:t>
            </a:r>
            <a:br>
              <a:rPr sz="850"/>
            </a:b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[A] 1 byte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[B] 0 bytes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[C] 4 bytes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[D] Undefined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============================================================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Your Answer &gt;&gt; A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&gt;&gt; [CORRECT!] +2 points.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------------------------------------------------------------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[Question 2] (True / False | 1 Point)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------------------------------------------------------------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A constructor in C++ can be declared as virtual.</a:t>
            </a:r>
            <a:br>
              <a:rPr sz="850"/>
            </a:b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  Options: Enter [T] for True or [F] for False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============================================================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Your Answer &gt;&gt; F</a:t>
            </a:r>
            <a:br>
              <a:rPr sz="850"/>
            </a:br>
            <a:r>
              <a:rPr lang="en-US" sz="85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&gt;&gt; [CORRECT!] +1 points.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7"/>
          <p:cNvSpPr/>
          <p:nvPr/>
        </p:nvSpPr>
        <p:spPr>
          <a:xfrm>
            <a:off x="6226920" y="1645920"/>
            <a:ext cx="5230080" cy="4571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Rectangle 8"/>
          <p:cNvSpPr/>
          <p:nvPr/>
        </p:nvSpPr>
        <p:spPr>
          <a:xfrm>
            <a:off x="6226920" y="1645920"/>
            <a:ext cx="5230080" cy="7272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Box 9"/>
          <p:cNvSpPr/>
          <p:nvPr/>
        </p:nvSpPr>
        <p:spPr>
          <a:xfrm>
            <a:off x="6446520" y="1874520"/>
            <a:ext cx="475452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Generated Scorecard (operator&lt;&lt;)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199"/>
              </a:spcBef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+-------------------------------------------------------------+</a:t>
            </a:r>
            <a:br>
              <a:rPr sz="900"/>
            </a:b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|                     QUIZ SCORE CARD                         |</a:t>
            </a:r>
            <a:br>
              <a:rPr sz="900"/>
            </a:b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+-------------------------------------------------------------+</a:t>
            </a:r>
            <a:br>
              <a:rPr sz="900"/>
            </a:b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| Student Name      : Alice Smith                             |</a:t>
            </a:r>
            <a:br>
              <a:rPr sz="900"/>
            </a:b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| Roll Number       : CS202601                                |</a:t>
            </a:r>
            <a:br>
              <a:rPr sz="900"/>
            </a:b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| Total Questions   : 10                                      |</a:t>
            </a:r>
            <a:br>
              <a:rPr sz="900"/>
            </a:b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| Correct Answers   : 9                                       |</a:t>
            </a:r>
            <a:br>
              <a:rPr sz="900"/>
            </a:b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| Final Score       : 15 / 17                                 |</a:t>
            </a:r>
            <a:br>
              <a:rPr sz="900"/>
            </a:b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| Percentage        : 88.24%                                  |</a:t>
            </a:r>
            <a:br>
              <a:rPr sz="900"/>
            </a:b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| Performance Grade : A  (Excellent)                         |</a:t>
            </a:r>
            <a:br>
              <a:rPr sz="900"/>
            </a:b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+-------------------------------------------------------------+</a:t>
            </a:r>
            <a:br>
              <a:rPr sz="900"/>
            </a:b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nsolas"/>
              </a:rPr>
              <a:t> [System] Result recorded successfully in: results.txt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10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1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11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TextBox 2"/>
          <p:cNvSpPr/>
          <p:nvPr/>
        </p:nvSpPr>
        <p:spPr>
          <a:xfrm>
            <a:off x="731520" y="365760"/>
            <a:ext cx="10698120" cy="1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11 | CONCLUSION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3"/>
          <p:cNvSpPr/>
          <p:nvPr/>
        </p:nvSpPr>
        <p:spPr>
          <a:xfrm>
            <a:off x="731520" y="658440"/>
            <a:ext cx="106981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F172A"/>
                </a:solidFill>
                <a:effectLst/>
                <a:uFillTx/>
                <a:latin typeface="Segoe UI"/>
              </a:rPr>
              <a:t>Learning Outcomes &amp; Summary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lang="en-US" sz="12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Key technical achievements gained from implementing this project.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4"/>
          <p:cNvSpPr/>
          <p:nvPr/>
        </p:nvSpPr>
        <p:spPr>
          <a:xfrm>
            <a:off x="731520" y="1645920"/>
            <a:ext cx="523008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Rectangle 5"/>
          <p:cNvSpPr/>
          <p:nvPr/>
        </p:nvSpPr>
        <p:spPr>
          <a:xfrm>
            <a:off x="731520" y="1645920"/>
            <a:ext cx="5230080" cy="5436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6"/>
          <p:cNvSpPr/>
          <p:nvPr/>
        </p:nvSpPr>
        <p:spPr>
          <a:xfrm>
            <a:off x="914400" y="1755720"/>
            <a:ext cx="4864320" cy="19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1. Mastery of OOP Principles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99"/>
              </a:spcBef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Learned how to apply Abstraction, Encapsulation, Inheritance, and Polymorphism in a practical application rather than just theory.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99"/>
              </a:spcBef>
            </a:pPr>
            <a:r>
              <a:rPr lang="en-US" sz="1150" b="1" u="none" strike="noStrike">
                <a:solidFill>
                  <a:srgbClr val="2563EB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Understood how dynamic method dispatch works through virtual tables (vtable and vptr).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Rectangle 7"/>
          <p:cNvSpPr/>
          <p:nvPr/>
        </p:nvSpPr>
        <p:spPr>
          <a:xfrm>
            <a:off x="6226920" y="1645920"/>
            <a:ext cx="523008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3" name="Rectangle 8"/>
          <p:cNvSpPr/>
          <p:nvPr/>
        </p:nvSpPr>
        <p:spPr>
          <a:xfrm>
            <a:off x="6226920" y="1645920"/>
            <a:ext cx="5230080" cy="54360"/>
          </a:xfrm>
          <a:prstGeom prst="rect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9"/>
          <p:cNvSpPr/>
          <p:nvPr/>
        </p:nvSpPr>
        <p:spPr>
          <a:xfrm>
            <a:off x="6409800" y="1755720"/>
            <a:ext cx="4864320" cy="19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2. Safe Memory Management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99"/>
              </a:spcBef>
            </a:pPr>
            <a:r>
              <a:rPr lang="en-US" sz="115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Gained hands-on experience managing heap memory with new and delete.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99"/>
              </a:spcBef>
            </a:pPr>
            <a:r>
              <a:rPr lang="en-US" sz="1150" b="1" u="none" strike="noStrike">
                <a:solidFill>
                  <a:srgbClr val="10B981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Understood the critical importance of virtual destructors to prevent memory leaks.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10"/>
          <p:cNvSpPr/>
          <p:nvPr/>
        </p:nvSpPr>
        <p:spPr>
          <a:xfrm>
            <a:off x="731520" y="3977640"/>
            <a:ext cx="523008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Rectangle 11"/>
          <p:cNvSpPr/>
          <p:nvPr/>
        </p:nvSpPr>
        <p:spPr>
          <a:xfrm>
            <a:off x="731520" y="3977640"/>
            <a:ext cx="5230080" cy="54360"/>
          </a:xfrm>
          <a:prstGeom prst="rect">
            <a:avLst/>
          </a:prstGeom>
          <a:solidFill>
            <a:srgbClr val="7C3AE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12"/>
          <p:cNvSpPr/>
          <p:nvPr/>
        </p:nvSpPr>
        <p:spPr>
          <a:xfrm>
            <a:off x="914400" y="4087440"/>
            <a:ext cx="4864320" cy="19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7C3AED"/>
                </a:solidFill>
                <a:effectLst/>
                <a:uFillTx/>
                <a:latin typeface="Segoe UI"/>
              </a:rPr>
              <a:t>3. Practical File Handling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99"/>
              </a:spcBef>
            </a:pPr>
            <a:r>
              <a:rPr lang="en-US" sz="1150" b="1" u="none" strike="noStrike">
                <a:solidFill>
                  <a:srgbClr val="7C3AED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Mastered reading and parsing formatted pipe-delimited text files using ifstream and stringstream.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99"/>
              </a:spcBef>
            </a:pPr>
            <a:r>
              <a:rPr lang="en-US" sz="1150" b="1" u="none" strike="noStrike">
                <a:solidFill>
                  <a:srgbClr val="7C3AED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Learned to maintain persistent logs using append mode (ios::app) with timestamps.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ectangle 13"/>
          <p:cNvSpPr/>
          <p:nvPr/>
        </p:nvSpPr>
        <p:spPr>
          <a:xfrm>
            <a:off x="6226920" y="3977640"/>
            <a:ext cx="5230080" cy="2148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Rectangle 14"/>
          <p:cNvSpPr/>
          <p:nvPr/>
        </p:nvSpPr>
        <p:spPr>
          <a:xfrm>
            <a:off x="6226920" y="3977640"/>
            <a:ext cx="5230080" cy="5436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15"/>
          <p:cNvSpPr/>
          <p:nvPr/>
        </p:nvSpPr>
        <p:spPr>
          <a:xfrm>
            <a:off x="6409800" y="4087440"/>
            <a:ext cx="4864320" cy="192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D97706"/>
                </a:solidFill>
                <a:effectLst/>
                <a:uFillTx/>
                <a:latin typeface="Segoe UI"/>
              </a:rPr>
              <a:t>4. Clean Academic Coding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Bef>
                <a:spcPts val="799"/>
              </a:spcBef>
            </a:pPr>
            <a:r>
              <a:rPr lang="en-US" sz="1150" b="1" u="none" strike="noStrike">
                <a:solidFill>
                  <a:srgbClr val="D97706"/>
                </a:solidFill>
                <a:effectLst/>
                <a:uFillTx/>
                <a:latin typeface="Segoe UI"/>
              </a:rPr>
              <a:t>•  </a:t>
            </a:r>
            <a:r>
              <a:rPr lang="en-US" sz="1050" b="0" u="none" strike="noStrike">
                <a:solidFill>
                  <a:srgbClr val="334155"/>
                </a:solidFill>
                <a:effectLst/>
                <a:uFillTx/>
                <a:latin typeface="Segoe UI"/>
              </a:rPr>
              <a:t>Organized a complete, working mini-project in a single clean source file (quiz_system.cpp) that compiles effortlessly in one command.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6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17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75569"/>
                </a:solidFill>
                <a:effectLst/>
                <a:uFillTx/>
                <a:latin typeface="Segoe UI"/>
              </a:rPr>
              <a:t>13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Rectangle 2"/>
          <p:cNvSpPr/>
          <p:nvPr/>
        </p:nvSpPr>
        <p:spPr>
          <a:xfrm>
            <a:off x="0" y="0"/>
            <a:ext cx="12191400" cy="9108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3"/>
          <p:cNvSpPr/>
          <p:nvPr/>
        </p:nvSpPr>
        <p:spPr>
          <a:xfrm>
            <a:off x="914400" y="2011680"/>
            <a:ext cx="1033236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THANK YOU!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2200" b="0" u="none" strike="noStrike">
                <a:solidFill>
                  <a:srgbClr val="0EA5E9"/>
                </a:solidFill>
                <a:effectLst/>
                <a:uFillTx/>
                <a:latin typeface="Segoe UI"/>
              </a:rPr>
              <a:t>Any Questions or Discussion?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400"/>
              </a:spcBef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Online Examination &amp; Quiz System | C++17 OOP Mini Project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Rectangle 4"/>
          <p:cNvSpPr/>
          <p:nvPr/>
        </p:nvSpPr>
        <p:spPr>
          <a:xfrm>
            <a:off x="914400" y="4572000"/>
            <a:ext cx="10359720" cy="1188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5"/>
          <p:cNvSpPr/>
          <p:nvPr/>
        </p:nvSpPr>
        <p:spPr>
          <a:xfrm>
            <a:off x="1097280" y="4709160"/>
            <a:ext cx="99666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0EA5E9"/>
                </a:solidFill>
                <a:effectLst/>
                <a:uFillTx/>
                <a:latin typeface="Segoe UI"/>
              </a:rPr>
              <a:t>PROJECT REPOSITORY &amp; FILES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Segoe UI"/>
              </a:rPr>
              <a:t>Source Code: quiz_system.cpp  |  Question Bank: questions.txt  |  Results Log: results.txt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6"/>
          <p:cNvSpPr/>
          <p:nvPr/>
        </p:nvSpPr>
        <p:spPr>
          <a:xfrm>
            <a:off x="731520" y="64465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C++ Object-Oriented Online Examination &amp; Quiz System | Lab Mini Project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7"/>
          <p:cNvSpPr/>
          <p:nvPr/>
        </p:nvSpPr>
        <p:spPr>
          <a:xfrm>
            <a:off x="9601200" y="64465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94A3B8"/>
                </a:solidFill>
                <a:effectLst/>
                <a:uFillTx/>
                <a:latin typeface="Segoe UI"/>
              </a:rPr>
              <a:t>14 / 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LibreOffice/26.2.0.3$Windows_X86_64 LibreOffice_project/620$Build-3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2026-10-18T19:15:40Z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